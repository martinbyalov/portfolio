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70" r:id="rId7"/>
    <p:sldId id="268" r:id="rId8"/>
    <p:sldId id="269" r:id="rId9"/>
    <p:sldId id="263" r:id="rId1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3DA1B1"/>
    <a:srgbClr val="E1607E"/>
    <a:srgbClr val="6E2887"/>
    <a:srgbClr val="6F2B89"/>
    <a:srgbClr val="DF9278"/>
    <a:srgbClr val="FFFFFF"/>
    <a:srgbClr val="3CA2B1"/>
    <a:srgbClr val="7DC8D4"/>
    <a:srgbClr val="D95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ен сти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ен стил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28358F5-DE2B-45EB-87D8-C406CC51E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70220573-5C72-4CE7-8399-71D35CE4F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01CE222A-39EC-40FD-928A-7847F533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7938D5AA-4A85-440F-906D-C9738FAE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BB75BBB1-7A55-48E8-99F9-9C9BF3B5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8303070"/>
      </p:ext>
    </p:extLst>
  </p:cSld>
  <p:clrMapOvr>
    <a:masterClrMapping/>
  </p:clrMapOvr>
  <p:transition spd="slow" advTm="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8EBC0F6-E8E1-4B6B-A889-02BDB4AE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C64709B-588A-41D7-A4DA-C47689CF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14BB2E7E-B86F-4FB9-8B23-15842775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20EF5D01-C794-429C-B207-CEC5F7FC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84BE0301-01F6-4A4F-9DF9-EEF5C882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5185521"/>
      </p:ext>
    </p:extLst>
  </p:cSld>
  <p:clrMapOvr>
    <a:masterClrMapping/>
  </p:clrMapOvr>
  <p:transition spd="slow" advTm="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854D69B-77CB-4FD3-A7D9-73EAC7AF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F5E0001E-E72E-4525-86E6-A3E2CF483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D26A33EC-13DE-405E-B698-810338AA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2C58CF36-C46D-4A09-804A-1E3D72F3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5FF53901-2349-4245-B251-5DE77D19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1495940"/>
      </p:ext>
    </p:extLst>
  </p:cSld>
  <p:clrMapOvr>
    <a:masterClrMapping/>
  </p:clrMapOvr>
  <p:transition spd="slow" advTm="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86326A0-2612-4BB3-AE02-BD825664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81C0A6B-2A4E-415A-996F-B98A6B081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83DEC33E-1EA8-4909-8F05-ECF082997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E83CE496-E8D3-4B80-88C5-3E3C363D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7DF5DD78-6EC2-4DB4-81E0-1BF426E9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BDA7759D-7B40-4123-BD71-28B30A28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3113057"/>
      </p:ext>
    </p:extLst>
  </p:cSld>
  <p:clrMapOvr>
    <a:masterClrMapping/>
  </p:clrMapOvr>
  <p:transition spd="slow" advTm="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8502BB7-F3CB-4DF4-B77B-ABA783B0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0507B85F-4338-4B05-8B25-F296DA036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804A8CFD-EDC0-4F48-BFB2-D09DC35EB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DED6291B-7146-43CD-9833-8310212E8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8E24A46D-BE84-4548-A94A-F90D2DC20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id="{92DADD90-B5F7-4FFF-B653-DB0B4346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id="{881011C0-8A6E-42F7-B6C5-C0F737CB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id="{15E341D2-9073-4564-9E43-8F9B435D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9160798"/>
      </p:ext>
    </p:extLst>
  </p:cSld>
  <p:clrMapOvr>
    <a:masterClrMapping/>
  </p:clrMapOvr>
  <p:transition spd="slow" advTm="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6E46305-0517-4C23-87EF-C4460952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C1819E68-8D89-483B-9AB6-6F6A4767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id="{42CE6CF2-002C-46DC-89A1-4C432B9E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id="{4A6D9A7D-B4DB-4FC9-9621-159A23D0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3182160"/>
      </p:ext>
    </p:extLst>
  </p:cSld>
  <p:clrMapOvr>
    <a:masterClrMapping/>
  </p:clrMapOvr>
  <p:transition spd="slow" advTm="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143C830D-FCEC-4465-A251-75EBA33F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id="{A5A80053-F646-4BF2-B591-D8B0DA71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id="{A90647D2-96B6-4AEE-AA28-C04581CD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63570309"/>
      </p:ext>
    </p:extLst>
  </p:cSld>
  <p:clrMapOvr>
    <a:masterClrMapping/>
  </p:clrMapOvr>
  <p:transition spd="slow" advTm="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080917E-87D0-4ED9-B50D-5040BA1B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C100BE1-F705-4B9B-901D-8F35A49B0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6F82E735-E002-4AF2-9746-152896225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81421925-CAEB-44EB-B55A-8B329548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F9DB3473-30A3-45AF-92DC-44FFB903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8B206028-01A1-4511-89D8-EF0D2F78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8031777"/>
      </p:ext>
    </p:extLst>
  </p:cSld>
  <p:clrMapOvr>
    <a:masterClrMapping/>
  </p:clrMapOvr>
  <p:transition spd="slow" advTm="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47B2455-4321-4E3E-9185-5C793843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348A42B4-F19B-4C97-9649-8E1527F77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AC4B3B41-E478-48A6-8435-8D0B406F4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F95B54B7-5DF8-49C7-B716-CAF1D9B7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68A03D4E-AE33-4881-BC54-39AA04E0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C10E820E-A97D-43C3-AB9B-E0EC47D4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6011895"/>
      </p:ext>
    </p:extLst>
  </p:cSld>
  <p:clrMapOvr>
    <a:masterClrMapping/>
  </p:clrMapOvr>
  <p:transition spd="slow" advTm="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AF3A912-0B9A-4381-8E55-30508EC9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1FEE9A47-FF98-41F1-8D04-04104B827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A9915DF2-BC85-4228-81F0-64B945C6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51D03353-5FBD-4566-8055-92929ECF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2CA15300-14BC-4590-AA44-52E34C20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7225385"/>
      </p:ext>
    </p:extLst>
  </p:cSld>
  <p:clrMapOvr>
    <a:masterClrMapping/>
  </p:clrMapOvr>
  <p:transition spd="slow" advTm="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id="{72161AB7-F841-44AB-966A-834D0C458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849A1830-7D94-48B9-AC1A-9B133470B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90E4254C-BE0C-4AE1-8816-A8330E96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73A175B8-8A2B-4611-96D4-BF335B19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F6CF0369-1237-4664-A7FA-8EA24853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5936581"/>
      </p:ext>
    </p:extLst>
  </p:cSld>
  <p:clrMapOvr>
    <a:masterClrMapping/>
  </p:clrMapOvr>
  <p:transition spd="slow" advTm="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CF520BB1-8E94-4857-A703-90211437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D01EC3A-3236-49E9-A720-08F57C6DB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29D373CC-4DFB-4E04-8D3F-911C9F489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8C6DB-D05E-4FB2-A0C7-8F9607883B56}" type="datetimeFigureOut">
              <a:rPr lang="bg-BG" smtClean="0"/>
              <a:t>20.3.2022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2AA3C814-A14D-4E11-BF35-A1D310A04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7AD0E68-4808-4B8E-8553-139D3B768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6A956-BE66-44F1-8129-63D1B522302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6519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54337F97-E7C7-4499-BC31-66FF1D63C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"/>
            <a:ext cx="12192000" cy="6857787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C3E834-0704-45E4-9A2A-31B694C92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5922"/>
            <a:ext cx="9144000" cy="2387600"/>
          </a:xfrm>
        </p:spPr>
        <p:txBody>
          <a:bodyPr>
            <a:normAutofit/>
          </a:bodyPr>
          <a:lstStyle/>
          <a:p>
            <a:r>
              <a:rPr lang="bg-BG" sz="4800" b="1">
                <a:solidFill>
                  <a:schemeClr val="tx2"/>
                </a:solidFill>
              </a:rPr>
              <a:t>Създаване на съдържание</a:t>
            </a:r>
            <a:br>
              <a:rPr lang="bg-BG" sz="6600" b="1">
                <a:solidFill>
                  <a:schemeClr val="tx2"/>
                </a:solidFill>
              </a:rPr>
            </a:br>
            <a:r>
              <a:rPr lang="bg-BG" sz="4400" b="1">
                <a:solidFill>
                  <a:schemeClr val="tx2"/>
                </a:solidFill>
              </a:rPr>
              <a:t>Алгоритми</a:t>
            </a:r>
            <a:endParaRPr lang="bg-BG" sz="6600" b="1">
              <a:solidFill>
                <a:schemeClr val="tx2"/>
              </a:solidFill>
            </a:endParaRPr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24BE1D87-8553-4731-AB70-5C4E6D11D802}"/>
              </a:ext>
            </a:extLst>
          </p:cNvPr>
          <p:cNvSpPr txBox="1"/>
          <p:nvPr/>
        </p:nvSpPr>
        <p:spPr>
          <a:xfrm>
            <a:off x="8923199" y="5895397"/>
            <a:ext cx="297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>
                <a:solidFill>
                  <a:schemeClr val="tx2"/>
                </a:solidFill>
              </a:rPr>
              <a:t>Мартин Бялов</a:t>
            </a:r>
          </a:p>
        </p:txBody>
      </p:sp>
      <p:cxnSp>
        <p:nvCxnSpPr>
          <p:cNvPr id="10" name="Право съединение 9">
            <a:extLst>
              <a:ext uri="{FF2B5EF4-FFF2-40B4-BE49-F238E27FC236}">
                <a16:creationId xmlns:a16="http://schemas.microsoft.com/office/drawing/2014/main" id="{B97F1E2E-0683-46B1-95FC-84C342ACF245}"/>
              </a:ext>
            </a:extLst>
          </p:cNvPr>
          <p:cNvCxnSpPr>
            <a:cxnSpLocks/>
          </p:cNvCxnSpPr>
          <p:nvPr/>
        </p:nvCxnSpPr>
        <p:spPr>
          <a:xfrm>
            <a:off x="9014915" y="6418617"/>
            <a:ext cx="2793189" cy="0"/>
          </a:xfrm>
          <a:prstGeom prst="line">
            <a:avLst/>
          </a:prstGeom>
          <a:ln w="38100">
            <a:solidFill>
              <a:srgbClr val="3CA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аво съединение 11">
            <a:extLst>
              <a:ext uri="{FF2B5EF4-FFF2-40B4-BE49-F238E27FC236}">
                <a16:creationId xmlns:a16="http://schemas.microsoft.com/office/drawing/2014/main" id="{2C6B0B25-7667-4422-A60D-6808B88A62D9}"/>
              </a:ext>
            </a:extLst>
          </p:cNvPr>
          <p:cNvCxnSpPr>
            <a:cxnSpLocks/>
          </p:cNvCxnSpPr>
          <p:nvPr/>
        </p:nvCxnSpPr>
        <p:spPr>
          <a:xfrm>
            <a:off x="4606724" y="4080119"/>
            <a:ext cx="2951544" cy="0"/>
          </a:xfrm>
          <a:prstGeom prst="line">
            <a:avLst/>
          </a:prstGeom>
          <a:ln w="38100">
            <a:solidFill>
              <a:srgbClr val="E16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620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Контейнер за съдържание 8">
            <a:extLst>
              <a:ext uri="{FF2B5EF4-FFF2-40B4-BE49-F238E27FC236}">
                <a16:creationId xmlns:a16="http://schemas.microsoft.com/office/drawing/2014/main" id="{7F00997F-2796-4B2B-A0C4-6AAD5D5F7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0"/>
            <a:ext cx="12192000" cy="6852150"/>
          </a:xfrm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E69FED53-E4FD-48B5-8B5C-8F146C20D350}"/>
              </a:ext>
            </a:extLst>
          </p:cNvPr>
          <p:cNvSpPr txBox="1"/>
          <p:nvPr/>
        </p:nvSpPr>
        <p:spPr>
          <a:xfrm>
            <a:off x="3836126" y="1362109"/>
            <a:ext cx="451974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>
                <a:solidFill>
                  <a:schemeClr val="tx2"/>
                </a:solidFill>
              </a:rPr>
              <a:t>Алгоритъм</a:t>
            </a:r>
            <a:r>
              <a:rPr lang="bg-BG" sz="3200" b="1"/>
              <a:t> </a:t>
            </a:r>
            <a:r>
              <a:rPr lang="bg-BG"/>
              <a:t>– последователност от елементарни действия </a:t>
            </a:r>
            <a:r>
              <a:rPr lang="bg-BG" b="1">
                <a:solidFill>
                  <a:schemeClr val="tx2"/>
                </a:solidFill>
              </a:rPr>
              <a:t>(стъпки) </a:t>
            </a:r>
            <a:r>
              <a:rPr lang="bg-BG"/>
              <a:t>над входни данни, които след изпълнение дават краен резултат и приключват за крайно време. </a:t>
            </a:r>
            <a:endParaRPr lang="bg-BG" sz="3200" b="1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B5B3657E-4FEA-4CAD-8A2C-A70923C92695}"/>
              </a:ext>
            </a:extLst>
          </p:cNvPr>
          <p:cNvSpPr txBox="1"/>
          <p:nvPr/>
        </p:nvSpPr>
        <p:spPr>
          <a:xfrm>
            <a:off x="1719943" y="3961359"/>
            <a:ext cx="2116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600" b="1">
                <a:solidFill>
                  <a:schemeClr val="tx2"/>
                </a:solidFill>
              </a:rPr>
              <a:t>Свойства:</a:t>
            </a:r>
            <a:endParaRPr lang="bg-BG" sz="2000" b="1">
              <a:solidFill>
                <a:schemeClr val="tx2"/>
              </a:solidFill>
            </a:endParaRPr>
          </a:p>
        </p:txBody>
      </p:sp>
      <p:sp>
        <p:nvSpPr>
          <p:cNvPr id="4" name="Правоъгълник: със заоблени ъгли 3">
            <a:extLst>
              <a:ext uri="{FF2B5EF4-FFF2-40B4-BE49-F238E27FC236}">
                <a16:creationId xmlns:a16="http://schemas.microsoft.com/office/drawing/2014/main" id="{469401DD-832A-47CA-8415-5E342C83960A}"/>
              </a:ext>
            </a:extLst>
          </p:cNvPr>
          <p:cNvSpPr/>
          <p:nvPr/>
        </p:nvSpPr>
        <p:spPr>
          <a:xfrm>
            <a:off x="3735976" y="1362109"/>
            <a:ext cx="4619898" cy="1537845"/>
          </a:xfrm>
          <a:prstGeom prst="roundRect">
            <a:avLst/>
          </a:prstGeom>
          <a:noFill/>
          <a:ln w="28575">
            <a:solidFill>
              <a:srgbClr val="3DA1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A46FD522-0E2F-48B4-8C0C-613DA1C84371}"/>
              </a:ext>
            </a:extLst>
          </p:cNvPr>
          <p:cNvSpPr txBox="1"/>
          <p:nvPr/>
        </p:nvSpPr>
        <p:spPr>
          <a:xfrm>
            <a:off x="3169920" y="3869025"/>
            <a:ext cx="5852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/>
              <a:t>масовост </a:t>
            </a:r>
            <a:r>
              <a:rPr lang="bg-BG" sz="2400">
                <a:solidFill>
                  <a:schemeClr val="tx2"/>
                </a:solidFill>
              </a:rPr>
              <a:t>• </a:t>
            </a:r>
            <a:r>
              <a:rPr lang="bg-BG" sz="2400" b="1"/>
              <a:t>определеност</a:t>
            </a:r>
          </a:p>
          <a:p>
            <a:pPr algn="ctr"/>
            <a:r>
              <a:rPr lang="bg-BG" sz="2400" b="1"/>
              <a:t>резултатност</a:t>
            </a:r>
            <a:r>
              <a:rPr lang="bg-BG" sz="2400">
                <a:solidFill>
                  <a:schemeClr val="tx2"/>
                </a:solidFill>
              </a:rPr>
              <a:t> • </a:t>
            </a:r>
            <a:r>
              <a:rPr lang="bg-BG" sz="2400" b="1"/>
              <a:t>яснота</a:t>
            </a:r>
            <a:endParaRPr lang="bg-BG" sz="2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40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8">
            <a:extLst>
              <a:ext uri="{FF2B5EF4-FFF2-40B4-BE49-F238E27FC236}">
                <a16:creationId xmlns:a16="http://schemas.microsoft.com/office/drawing/2014/main" id="{0A1CCEDF-CDA5-4A7E-B815-7037487A7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0"/>
            <a:ext cx="12192000" cy="6852150"/>
          </a:xfrm>
          <a:prstGeom prst="rect">
            <a:avLst/>
          </a:prstGeom>
        </p:spPr>
      </p:pic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61E67106-174C-48A2-A3EA-B2626A9A05C6}"/>
              </a:ext>
            </a:extLst>
          </p:cNvPr>
          <p:cNvSpPr txBox="1">
            <a:spLocks/>
          </p:cNvSpPr>
          <p:nvPr/>
        </p:nvSpPr>
        <p:spPr>
          <a:xfrm>
            <a:off x="1524000" y="79023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4800" b="1">
                <a:solidFill>
                  <a:schemeClr val="tx2"/>
                </a:solidFill>
              </a:rPr>
              <a:t>Представяне на алгоритми</a:t>
            </a:r>
            <a:endParaRPr lang="bg-BG" sz="6600" b="1">
              <a:solidFill>
                <a:schemeClr val="tx2"/>
              </a:solidFill>
            </a:endParaRP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6A4E6751-971B-45B1-A8BE-628BAF19AF4F}"/>
              </a:ext>
            </a:extLst>
          </p:cNvPr>
          <p:cNvSpPr txBox="1"/>
          <p:nvPr/>
        </p:nvSpPr>
        <p:spPr>
          <a:xfrm>
            <a:off x="1114697" y="2777925"/>
            <a:ext cx="99626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>
                <a:solidFill>
                  <a:schemeClr val="tx2"/>
                </a:solidFill>
              </a:rPr>
              <a:t>• </a:t>
            </a:r>
            <a:r>
              <a:rPr lang="bg-BG" sz="2400" b="1"/>
              <a:t>словесно</a:t>
            </a:r>
            <a:r>
              <a:rPr lang="bg-BG" sz="2400">
                <a:solidFill>
                  <a:schemeClr val="tx2"/>
                </a:solidFill>
              </a:rPr>
              <a:t> – с думи (бърз и лесен метод);</a:t>
            </a:r>
          </a:p>
          <a:p>
            <a:pPr algn="ctr"/>
            <a:endParaRPr lang="bg-BG" sz="2400">
              <a:solidFill>
                <a:schemeClr val="tx2"/>
              </a:solidFill>
            </a:endParaRPr>
          </a:p>
          <a:p>
            <a:pPr algn="ctr"/>
            <a:r>
              <a:rPr lang="bg-BG" sz="2400">
                <a:solidFill>
                  <a:schemeClr val="tx2"/>
                </a:solidFill>
              </a:rPr>
              <a:t>• </a:t>
            </a:r>
            <a:r>
              <a:rPr lang="bg-BG" sz="2400" b="1"/>
              <a:t>схематично </a:t>
            </a:r>
            <a:r>
              <a:rPr lang="bg-BG" sz="2400">
                <a:solidFill>
                  <a:schemeClr val="tx2"/>
                </a:solidFill>
              </a:rPr>
              <a:t>– с блок схеми (структуриран и недвусмислен метод);</a:t>
            </a:r>
          </a:p>
          <a:p>
            <a:pPr algn="ctr"/>
            <a:endParaRPr lang="bg-BG" sz="2400">
              <a:solidFill>
                <a:schemeClr val="tx2"/>
              </a:solidFill>
            </a:endParaRPr>
          </a:p>
          <a:p>
            <a:pPr algn="ctr"/>
            <a:r>
              <a:rPr lang="bg-BG" sz="2400">
                <a:solidFill>
                  <a:schemeClr val="tx2"/>
                </a:solidFill>
              </a:rPr>
              <a:t>• </a:t>
            </a:r>
            <a:r>
              <a:rPr lang="bg-BG" sz="2400" b="1"/>
              <a:t>псевдокод </a:t>
            </a:r>
            <a:r>
              <a:rPr lang="bg-BG" sz="2400">
                <a:solidFill>
                  <a:schemeClr val="tx2"/>
                </a:solidFill>
              </a:rPr>
              <a:t>– с език за програмиране (идейно представяне);</a:t>
            </a:r>
          </a:p>
          <a:p>
            <a:pPr algn="ctr"/>
            <a:endParaRPr lang="bg-BG" sz="2400">
              <a:solidFill>
                <a:schemeClr val="tx2"/>
              </a:solidFill>
            </a:endParaRPr>
          </a:p>
          <a:p>
            <a:pPr algn="ctr"/>
            <a:r>
              <a:rPr lang="bg-BG" sz="2400">
                <a:solidFill>
                  <a:schemeClr val="tx2"/>
                </a:solidFill>
              </a:rPr>
              <a:t>• </a:t>
            </a:r>
            <a:r>
              <a:rPr lang="bg-BG" sz="2400" b="1"/>
              <a:t>език за програмиране </a:t>
            </a:r>
            <a:r>
              <a:rPr lang="bg-BG" sz="2400">
                <a:solidFill>
                  <a:schemeClr val="tx2"/>
                </a:solidFill>
              </a:rPr>
              <a:t>– с блок схеми (точен, ясен, описателен). </a:t>
            </a:r>
            <a:endParaRPr lang="bg-BG" sz="2400"/>
          </a:p>
          <a:p>
            <a:pPr algn="ctr"/>
            <a:endParaRPr lang="bg-BG" sz="2400"/>
          </a:p>
          <a:p>
            <a:pPr algn="ctr"/>
            <a:endParaRPr lang="bg-BG" sz="2400">
              <a:solidFill>
                <a:schemeClr val="tx2"/>
              </a:solidFill>
            </a:endParaRPr>
          </a:p>
          <a:p>
            <a:pPr algn="ctr"/>
            <a:endParaRPr lang="bg-BG" sz="2400">
              <a:solidFill>
                <a:schemeClr val="tx2"/>
              </a:solidFill>
            </a:endParaRPr>
          </a:p>
          <a:p>
            <a:pPr algn="ctr"/>
            <a:r>
              <a:rPr lang="bg-BG" sz="2400">
                <a:solidFill>
                  <a:schemeClr val="tx2"/>
                </a:solidFill>
              </a:rPr>
              <a:t> </a:t>
            </a:r>
            <a:endParaRPr lang="bg-BG" sz="2400"/>
          </a:p>
          <a:p>
            <a:pPr algn="ctr"/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2068895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8">
            <a:extLst>
              <a:ext uri="{FF2B5EF4-FFF2-40B4-BE49-F238E27FC236}">
                <a16:creationId xmlns:a16="http://schemas.microsoft.com/office/drawing/2014/main" id="{9D07A1D5-5B50-403A-97DA-7E5A2D528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969"/>
            <a:ext cx="12192000" cy="6852150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66FC640-0A8B-482A-8338-4A6F41002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422581"/>
              </p:ext>
            </p:extLst>
          </p:nvPr>
        </p:nvGraphicFramePr>
        <p:xfrm>
          <a:off x="2299786" y="2135134"/>
          <a:ext cx="7592424" cy="35635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98106">
                  <a:extLst>
                    <a:ext uri="{9D8B030D-6E8A-4147-A177-3AD203B41FA5}">
                      <a16:colId xmlns:a16="http://schemas.microsoft.com/office/drawing/2014/main" val="2668947934"/>
                    </a:ext>
                  </a:extLst>
                </a:gridCol>
                <a:gridCol w="1898106">
                  <a:extLst>
                    <a:ext uri="{9D8B030D-6E8A-4147-A177-3AD203B41FA5}">
                      <a16:colId xmlns:a16="http://schemas.microsoft.com/office/drawing/2014/main" val="1893662666"/>
                    </a:ext>
                  </a:extLst>
                </a:gridCol>
                <a:gridCol w="1898106">
                  <a:extLst>
                    <a:ext uri="{9D8B030D-6E8A-4147-A177-3AD203B41FA5}">
                      <a16:colId xmlns:a16="http://schemas.microsoft.com/office/drawing/2014/main" val="1633498927"/>
                    </a:ext>
                  </a:extLst>
                </a:gridCol>
                <a:gridCol w="1898106">
                  <a:extLst>
                    <a:ext uri="{9D8B030D-6E8A-4147-A177-3AD203B41FA5}">
                      <a16:colId xmlns:a16="http://schemas.microsoft.com/office/drawing/2014/main" val="1149750363"/>
                    </a:ext>
                  </a:extLst>
                </a:gridCol>
              </a:tblGrid>
              <a:tr h="1099416">
                <a:tc>
                  <a:txBody>
                    <a:bodyPr/>
                    <a:lstStyle/>
                    <a:p>
                      <a:pPr algn="ctr"/>
                      <a:endParaRPr lang="bg-BG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>
                          <a:solidFill>
                            <a:schemeClr val="tx1"/>
                          </a:solidFill>
                        </a:rPr>
                        <a:t>Започва изпълнението</a:t>
                      </a:r>
                    </a:p>
                    <a:p>
                      <a:pPr algn="ctr"/>
                      <a:r>
                        <a:rPr lang="bg-BG" b="0">
                          <a:solidFill>
                            <a:schemeClr val="tx1"/>
                          </a:solidFill>
                        </a:rPr>
                        <a:t>на алгоритъма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bg-BG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>
                          <a:solidFill>
                            <a:schemeClr val="tx1"/>
                          </a:solidFill>
                        </a:rPr>
                        <a:t>Задаване на входни данни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472046"/>
                  </a:ext>
                </a:extLst>
              </a:tr>
              <a:tr h="1429241">
                <a:tc>
                  <a:txBody>
                    <a:bodyPr/>
                    <a:lstStyle/>
                    <a:p>
                      <a:pPr algn="ctr"/>
                      <a:endParaRPr lang="bg-BG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/>
                        <a:t>Приключва изпълнението на алгоритъма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bg-BG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/>
                        <a:t>Извеждане на крайни данни или междинни резултати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225875"/>
                  </a:ext>
                </a:extLst>
              </a:tr>
              <a:tr h="1034853">
                <a:tc>
                  <a:txBody>
                    <a:bodyPr/>
                    <a:lstStyle/>
                    <a:p>
                      <a:pPr algn="ctr"/>
                      <a:endParaRPr lang="bg-BG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/>
                        <a:t>Извършване на аритметични действия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b="1"/>
                        <a:t>Условие</a:t>
                      </a:r>
                      <a:endParaRPr lang="bg-BG" b="1"/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/>
                        <a:t>Логическо условие с проверка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529086"/>
                  </a:ext>
                </a:extLst>
              </a:tr>
            </a:tbl>
          </a:graphicData>
        </a:graphic>
      </p:graphicFrame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98EB0CD2-3616-4160-B00E-C6DC60EF864E}"/>
              </a:ext>
            </a:extLst>
          </p:cNvPr>
          <p:cNvSpPr txBox="1">
            <a:spLocks/>
          </p:cNvSpPr>
          <p:nvPr/>
        </p:nvSpPr>
        <p:spPr>
          <a:xfrm>
            <a:off x="4362993" y="659295"/>
            <a:ext cx="3466011" cy="1648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4800" b="1">
                <a:solidFill>
                  <a:schemeClr val="tx2"/>
                </a:solidFill>
              </a:rPr>
              <a:t>Блок схема</a:t>
            </a:r>
            <a:endParaRPr lang="bg-BG" sz="6600" b="1">
              <a:solidFill>
                <a:schemeClr val="tx2"/>
              </a:solidFill>
            </a:endParaRPr>
          </a:p>
        </p:txBody>
      </p:sp>
      <p:sp>
        <p:nvSpPr>
          <p:cNvPr id="8" name="Правоъгълник: със заоблени ъгли 7">
            <a:extLst>
              <a:ext uri="{FF2B5EF4-FFF2-40B4-BE49-F238E27FC236}">
                <a16:creationId xmlns:a16="http://schemas.microsoft.com/office/drawing/2014/main" id="{2197AB18-477E-4774-AA44-DA1D825F7BB1}"/>
              </a:ext>
            </a:extLst>
          </p:cNvPr>
          <p:cNvSpPr/>
          <p:nvPr/>
        </p:nvSpPr>
        <p:spPr>
          <a:xfrm>
            <a:off x="2699656" y="2418085"/>
            <a:ext cx="1105988" cy="5290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Начало</a:t>
            </a:r>
          </a:p>
        </p:txBody>
      </p:sp>
      <p:sp>
        <p:nvSpPr>
          <p:cNvPr id="9" name="Правоъгълник: със заоблени ъгли 8">
            <a:extLst>
              <a:ext uri="{FF2B5EF4-FFF2-40B4-BE49-F238E27FC236}">
                <a16:creationId xmlns:a16="http://schemas.microsoft.com/office/drawing/2014/main" id="{9B1E6713-F99B-4CC5-BA44-596EFFA3BD58}"/>
              </a:ext>
            </a:extLst>
          </p:cNvPr>
          <p:cNvSpPr/>
          <p:nvPr/>
        </p:nvSpPr>
        <p:spPr>
          <a:xfrm>
            <a:off x="2699656" y="3642921"/>
            <a:ext cx="1105988" cy="5290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Край</a:t>
            </a:r>
          </a:p>
        </p:txBody>
      </p:sp>
      <p:sp>
        <p:nvSpPr>
          <p:cNvPr id="11" name="Блоксхема: данни 10">
            <a:extLst>
              <a:ext uri="{FF2B5EF4-FFF2-40B4-BE49-F238E27FC236}">
                <a16:creationId xmlns:a16="http://schemas.microsoft.com/office/drawing/2014/main" id="{4A4B38DC-70B0-46AC-B384-A5DF2D948A70}"/>
              </a:ext>
            </a:extLst>
          </p:cNvPr>
          <p:cNvSpPr/>
          <p:nvPr/>
        </p:nvSpPr>
        <p:spPr>
          <a:xfrm>
            <a:off x="6289034" y="3686112"/>
            <a:ext cx="1406434" cy="461554"/>
          </a:xfrm>
          <a:prstGeom prst="flowChartInputOutpu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Изход</a:t>
            </a:r>
          </a:p>
        </p:txBody>
      </p:sp>
      <p:sp>
        <p:nvSpPr>
          <p:cNvPr id="15" name="Блоксхема: данни 14">
            <a:extLst>
              <a:ext uri="{FF2B5EF4-FFF2-40B4-BE49-F238E27FC236}">
                <a16:creationId xmlns:a16="http://schemas.microsoft.com/office/drawing/2014/main" id="{494FB20E-98AB-46C2-86A6-7393B95BB355}"/>
              </a:ext>
            </a:extLst>
          </p:cNvPr>
          <p:cNvSpPr/>
          <p:nvPr/>
        </p:nvSpPr>
        <p:spPr>
          <a:xfrm>
            <a:off x="6289034" y="2458027"/>
            <a:ext cx="1406434" cy="461554"/>
          </a:xfrm>
          <a:prstGeom prst="flowChartInputOutpu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Вход</a:t>
            </a:r>
          </a:p>
        </p:txBody>
      </p:sp>
      <p:sp>
        <p:nvSpPr>
          <p:cNvPr id="16" name="Правоъгълник 15">
            <a:extLst>
              <a:ext uri="{FF2B5EF4-FFF2-40B4-BE49-F238E27FC236}">
                <a16:creationId xmlns:a16="http://schemas.microsoft.com/office/drawing/2014/main" id="{1168C845-0034-4CCD-90B1-687D697D2666}"/>
              </a:ext>
            </a:extLst>
          </p:cNvPr>
          <p:cNvSpPr/>
          <p:nvPr/>
        </p:nvSpPr>
        <p:spPr>
          <a:xfrm>
            <a:off x="2410458" y="4867757"/>
            <a:ext cx="1684384" cy="60368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Функционален блок</a:t>
            </a:r>
          </a:p>
        </p:txBody>
      </p:sp>
      <p:sp>
        <p:nvSpPr>
          <p:cNvPr id="18" name="Блоксхема: решение 17">
            <a:extLst>
              <a:ext uri="{FF2B5EF4-FFF2-40B4-BE49-F238E27FC236}">
                <a16:creationId xmlns:a16="http://schemas.microsoft.com/office/drawing/2014/main" id="{CAB2631A-56FC-4B42-A20A-4361789A86A4}"/>
              </a:ext>
            </a:extLst>
          </p:cNvPr>
          <p:cNvSpPr/>
          <p:nvPr/>
        </p:nvSpPr>
        <p:spPr>
          <a:xfrm>
            <a:off x="6549388" y="4754880"/>
            <a:ext cx="1000943" cy="868625"/>
          </a:xfrm>
          <a:prstGeom prst="flowChartDecis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812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917B64B-4C62-4A78-8C46-CF0C0CEA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4" name="Контейнер за съдържание 8">
            <a:extLst>
              <a:ext uri="{FF2B5EF4-FFF2-40B4-BE49-F238E27FC236}">
                <a16:creationId xmlns:a16="http://schemas.microsoft.com/office/drawing/2014/main" id="{C945B43E-D6E5-43E6-B839-C5664A20D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50"/>
            <a:ext cx="12192000" cy="6852150"/>
          </a:xfrm>
          <a:prstGeom prst="rect">
            <a:avLst/>
          </a:prstGeom>
        </p:spPr>
      </p:pic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EC9B4BF0-B17A-47E5-8AE7-16CDCBAEA492}"/>
              </a:ext>
            </a:extLst>
          </p:cNvPr>
          <p:cNvSpPr txBox="1">
            <a:spLocks/>
          </p:cNvSpPr>
          <p:nvPr/>
        </p:nvSpPr>
        <p:spPr>
          <a:xfrm>
            <a:off x="3378924" y="433814"/>
            <a:ext cx="5434150" cy="1648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4800" b="1">
                <a:solidFill>
                  <a:schemeClr val="tx2"/>
                </a:solidFill>
              </a:rPr>
              <a:t>Видове алгоритми</a:t>
            </a:r>
            <a:endParaRPr lang="bg-BG" sz="6600" b="1">
              <a:solidFill>
                <a:schemeClr val="tx2"/>
              </a:solidFill>
            </a:endParaRPr>
          </a:p>
        </p:txBody>
      </p:sp>
      <p:pic>
        <p:nvPicPr>
          <p:cNvPr id="8" name="Контейнер за съдържание 7">
            <a:extLst>
              <a:ext uri="{FF2B5EF4-FFF2-40B4-BE49-F238E27FC236}">
                <a16:creationId xmlns:a16="http://schemas.microsoft.com/office/drawing/2014/main" id="{15CC77AF-7D39-4572-9443-43845E1EF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36" y="2579432"/>
            <a:ext cx="1280459" cy="2959624"/>
          </a:xfrm>
        </p:spPr>
      </p:pic>
      <p:sp>
        <p:nvSpPr>
          <p:cNvPr id="9" name="Заглавие 1">
            <a:extLst>
              <a:ext uri="{FF2B5EF4-FFF2-40B4-BE49-F238E27FC236}">
                <a16:creationId xmlns:a16="http://schemas.microsoft.com/office/drawing/2014/main" id="{CE7459B3-5EA0-4EF2-BA8D-087419E0BD57}"/>
              </a:ext>
            </a:extLst>
          </p:cNvPr>
          <p:cNvSpPr txBox="1">
            <a:spLocks/>
          </p:cNvSpPr>
          <p:nvPr/>
        </p:nvSpPr>
        <p:spPr>
          <a:xfrm>
            <a:off x="3173856" y="1778352"/>
            <a:ext cx="1280459" cy="81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2400" b="1"/>
              <a:t>Линеен</a:t>
            </a:r>
            <a:endParaRPr lang="bg-BG" sz="3600" b="1"/>
          </a:p>
        </p:txBody>
      </p:sp>
      <p:cxnSp>
        <p:nvCxnSpPr>
          <p:cNvPr id="10" name="Право съединение 9">
            <a:extLst>
              <a:ext uri="{FF2B5EF4-FFF2-40B4-BE49-F238E27FC236}">
                <a16:creationId xmlns:a16="http://schemas.microsoft.com/office/drawing/2014/main" id="{6B806BFB-EA2A-4B09-810B-84E444AD23E9}"/>
              </a:ext>
            </a:extLst>
          </p:cNvPr>
          <p:cNvCxnSpPr>
            <a:cxnSpLocks/>
          </p:cNvCxnSpPr>
          <p:nvPr/>
        </p:nvCxnSpPr>
        <p:spPr>
          <a:xfrm>
            <a:off x="3173856" y="2403719"/>
            <a:ext cx="1264148" cy="0"/>
          </a:xfrm>
          <a:prstGeom prst="line">
            <a:avLst/>
          </a:prstGeom>
          <a:ln w="38100">
            <a:solidFill>
              <a:srgbClr val="E16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Заглавие 1">
            <a:extLst>
              <a:ext uri="{FF2B5EF4-FFF2-40B4-BE49-F238E27FC236}">
                <a16:creationId xmlns:a16="http://schemas.microsoft.com/office/drawing/2014/main" id="{074644AB-3316-4737-B9A5-C2A4B8CFC740}"/>
              </a:ext>
            </a:extLst>
          </p:cNvPr>
          <p:cNvSpPr txBox="1">
            <a:spLocks/>
          </p:cNvSpPr>
          <p:nvPr/>
        </p:nvSpPr>
        <p:spPr>
          <a:xfrm>
            <a:off x="7737683" y="1820424"/>
            <a:ext cx="1563322" cy="81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2400" b="1"/>
              <a:t>Разклонен</a:t>
            </a:r>
            <a:endParaRPr lang="bg-BG" sz="3600" b="1"/>
          </a:p>
        </p:txBody>
      </p:sp>
      <p:cxnSp>
        <p:nvCxnSpPr>
          <p:cNvPr id="14" name="Право съединение 13">
            <a:extLst>
              <a:ext uri="{FF2B5EF4-FFF2-40B4-BE49-F238E27FC236}">
                <a16:creationId xmlns:a16="http://schemas.microsoft.com/office/drawing/2014/main" id="{1A8B0C48-D472-437E-9F71-9A0923BBC8EA}"/>
              </a:ext>
            </a:extLst>
          </p:cNvPr>
          <p:cNvCxnSpPr>
            <a:cxnSpLocks/>
          </p:cNvCxnSpPr>
          <p:nvPr/>
        </p:nvCxnSpPr>
        <p:spPr>
          <a:xfrm>
            <a:off x="7768448" y="2434352"/>
            <a:ext cx="1503333" cy="0"/>
          </a:xfrm>
          <a:prstGeom prst="line">
            <a:avLst/>
          </a:prstGeom>
          <a:ln w="38100">
            <a:solidFill>
              <a:srgbClr val="E16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Картина 16">
            <a:extLst>
              <a:ext uri="{FF2B5EF4-FFF2-40B4-BE49-F238E27FC236}">
                <a16:creationId xmlns:a16="http://schemas.microsoft.com/office/drawing/2014/main" id="{F76525AB-3039-465E-AA5D-C9BA8C04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92" y="2659753"/>
            <a:ext cx="2583180" cy="2895600"/>
          </a:xfrm>
          <a:prstGeom prst="rect">
            <a:avLst/>
          </a:prstGeom>
        </p:spPr>
      </p:pic>
      <p:sp>
        <p:nvSpPr>
          <p:cNvPr id="18" name="Заглавие 1">
            <a:extLst>
              <a:ext uri="{FF2B5EF4-FFF2-40B4-BE49-F238E27FC236}">
                <a16:creationId xmlns:a16="http://schemas.microsoft.com/office/drawing/2014/main" id="{12F03BD4-610B-4901-8B3D-4C35F147FBA7}"/>
              </a:ext>
            </a:extLst>
          </p:cNvPr>
          <p:cNvSpPr txBox="1">
            <a:spLocks/>
          </p:cNvSpPr>
          <p:nvPr/>
        </p:nvSpPr>
        <p:spPr>
          <a:xfrm>
            <a:off x="5297325" y="1811470"/>
            <a:ext cx="1563322" cy="81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2400" b="1"/>
              <a:t>Цикличен</a:t>
            </a:r>
            <a:endParaRPr lang="bg-BG" sz="3600" b="1"/>
          </a:p>
        </p:txBody>
      </p:sp>
      <p:pic>
        <p:nvPicPr>
          <p:cNvPr id="20" name="Картина 19">
            <a:extLst>
              <a:ext uri="{FF2B5EF4-FFF2-40B4-BE49-F238E27FC236}">
                <a16:creationId xmlns:a16="http://schemas.microsoft.com/office/drawing/2014/main" id="{C279E254-B214-4B57-A186-187FD70A6D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63" y="2622798"/>
            <a:ext cx="1989272" cy="3508854"/>
          </a:xfrm>
          <a:prstGeom prst="rect">
            <a:avLst/>
          </a:prstGeom>
        </p:spPr>
      </p:pic>
      <p:cxnSp>
        <p:nvCxnSpPr>
          <p:cNvPr id="21" name="Право съединение 20">
            <a:extLst>
              <a:ext uri="{FF2B5EF4-FFF2-40B4-BE49-F238E27FC236}">
                <a16:creationId xmlns:a16="http://schemas.microsoft.com/office/drawing/2014/main" id="{E4FC0152-D296-40CA-B18B-5B5130D67E68}"/>
              </a:ext>
            </a:extLst>
          </p:cNvPr>
          <p:cNvCxnSpPr>
            <a:cxnSpLocks/>
          </p:cNvCxnSpPr>
          <p:nvPr/>
        </p:nvCxnSpPr>
        <p:spPr>
          <a:xfrm>
            <a:off x="5314338" y="2403719"/>
            <a:ext cx="1503333" cy="0"/>
          </a:xfrm>
          <a:prstGeom prst="line">
            <a:avLst/>
          </a:prstGeom>
          <a:ln w="38100">
            <a:solidFill>
              <a:srgbClr val="E16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16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8">
            <a:extLst>
              <a:ext uri="{FF2B5EF4-FFF2-40B4-BE49-F238E27FC236}">
                <a16:creationId xmlns:a16="http://schemas.microsoft.com/office/drawing/2014/main" id="{E14D941C-3089-48B5-A91A-6116DD691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50"/>
            <a:ext cx="12192000" cy="6852150"/>
          </a:xfrm>
          <a:prstGeom prst="rect">
            <a:avLst/>
          </a:prstGeom>
        </p:spPr>
      </p:pic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C8499C69-7F63-4E5F-9564-3E950D490EDD}"/>
              </a:ext>
            </a:extLst>
          </p:cNvPr>
          <p:cNvSpPr txBox="1">
            <a:spLocks/>
          </p:cNvSpPr>
          <p:nvPr/>
        </p:nvSpPr>
        <p:spPr>
          <a:xfrm>
            <a:off x="3378922" y="893838"/>
            <a:ext cx="5434150" cy="1419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3600" b="1">
                <a:solidFill>
                  <a:schemeClr val="tx2"/>
                </a:solidFill>
              </a:rPr>
              <a:t>Алгоритъм на Евклид</a:t>
            </a:r>
          </a:p>
          <a:p>
            <a:pPr algn="ctr"/>
            <a:r>
              <a:rPr lang="bg-BG" sz="3600" b="1">
                <a:solidFill>
                  <a:schemeClr val="tx2"/>
                </a:solidFill>
              </a:rPr>
              <a:t>Блок схема</a:t>
            </a:r>
          </a:p>
          <a:p>
            <a:pPr algn="ctr"/>
            <a:endParaRPr lang="bg-BG" sz="4800" b="1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F838C91-5339-4D88-BD5B-B694DBD89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5153"/>
              </p:ext>
            </p:extLst>
          </p:nvPr>
        </p:nvGraphicFramePr>
        <p:xfrm>
          <a:off x="2031997" y="2191415"/>
          <a:ext cx="81280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806">
                  <a:extLst>
                    <a:ext uri="{9D8B030D-6E8A-4147-A177-3AD203B41FA5}">
                      <a16:colId xmlns:a16="http://schemas.microsoft.com/office/drawing/2014/main" val="2584674004"/>
                    </a:ext>
                  </a:extLst>
                </a:gridCol>
                <a:gridCol w="6598194">
                  <a:extLst>
                    <a:ext uri="{9D8B030D-6E8A-4147-A177-3AD203B41FA5}">
                      <a16:colId xmlns:a16="http://schemas.microsoft.com/office/drawing/2014/main" val="421429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sz="2400">
                          <a:solidFill>
                            <a:schemeClr val="tx1"/>
                          </a:solidFill>
                        </a:rPr>
                        <a:t>Стъпка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>
                          <a:solidFill>
                            <a:schemeClr val="tx1"/>
                          </a:solidFill>
                        </a:rPr>
                        <a:t>Описание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74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/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Начало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631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Въведете и запомнете целите числа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bg-BG" b="0">
                          <a:solidFill>
                            <a:schemeClr val="tx1"/>
                          </a:solidFill>
                        </a:rPr>
                        <a:t>и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bg-BG" sz="2000" b="0">
                          <a:solidFill>
                            <a:schemeClr val="tx1"/>
                          </a:solidFill>
                        </a:rPr>
                        <a:t>, частно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lang="bg-BG" sz="2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и остатък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35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Извършете действие деление с частно и остатък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(a = bq + r)</a:t>
                      </a:r>
                      <a:r>
                        <a:rPr lang="bg-BG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31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>
                          <a:solidFill>
                            <a:schemeClr val="tx1"/>
                          </a:solidFill>
                        </a:rPr>
                        <a:t>Ако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r = 0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bg-BG" sz="2000" b="0">
                          <a:solidFill>
                            <a:schemeClr val="tx1"/>
                          </a:solidFill>
                        </a:rPr>
                        <a:t>изпълнете стъпка </a:t>
                      </a:r>
                      <a:r>
                        <a:rPr lang="bg-BG" sz="2000" b="1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bg-BG" sz="20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в противен случай стъпка </a:t>
                      </a:r>
                      <a:r>
                        <a:rPr lang="bg-BG" sz="2000" b="1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bg-BG" sz="20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439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Задайте нови стойности за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a = b 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и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b = r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34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Изпълнете стъпка </a:t>
                      </a:r>
                      <a:r>
                        <a:rPr lang="bg-BG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57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Да се изведе съобщение </a:t>
                      </a:r>
                      <a:r>
                        <a:rPr lang="bg-BG" sz="2000" b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bg-BG" sz="2000" b="1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a, b) = b</a:t>
                      </a:r>
                      <a:r>
                        <a:rPr lang="bg-BG" sz="2000" b="1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bg-BG" sz="18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bg-BG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7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b="1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bg-BG">
                          <a:solidFill>
                            <a:schemeClr val="tx1"/>
                          </a:solidFill>
                        </a:rPr>
                        <a:t>Край.</a:t>
                      </a:r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84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703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19EA913-01D1-4F11-ABCC-E1533B0A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3CF4DA9-A4A9-478B-AE24-2FD4D32A3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4" name="Контейнер за съдържание 8">
            <a:extLst>
              <a:ext uri="{FF2B5EF4-FFF2-40B4-BE49-F238E27FC236}">
                <a16:creationId xmlns:a16="http://schemas.microsoft.com/office/drawing/2014/main" id="{2A3B07B8-075C-4DA6-8E94-ADBCE11A4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969"/>
            <a:ext cx="12192000" cy="6852150"/>
          </a:xfrm>
          <a:prstGeom prst="rect">
            <a:avLst/>
          </a:prstGeom>
        </p:spPr>
      </p:pic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91FF13CB-0FDD-4599-BBAD-D56DD2B7FEA1}"/>
              </a:ext>
            </a:extLst>
          </p:cNvPr>
          <p:cNvSpPr txBox="1">
            <a:spLocks/>
          </p:cNvSpPr>
          <p:nvPr/>
        </p:nvSpPr>
        <p:spPr>
          <a:xfrm>
            <a:off x="3178625" y="645282"/>
            <a:ext cx="5451569" cy="1648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b="1">
                <a:solidFill>
                  <a:schemeClr val="tx2"/>
                </a:solidFill>
              </a:rPr>
              <a:t>Алгоритъм на Евклид</a:t>
            </a:r>
            <a:endParaRPr lang="bg-BG" sz="6000" b="1">
              <a:solidFill>
                <a:schemeClr val="tx2"/>
              </a:solidFill>
            </a:endParaRP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D9824FD1-FE76-4D68-A0AA-7776C0193414}"/>
              </a:ext>
            </a:extLst>
          </p:cNvPr>
          <p:cNvSpPr txBox="1"/>
          <p:nvPr/>
        </p:nvSpPr>
        <p:spPr>
          <a:xfrm>
            <a:off x="2429689" y="3306829"/>
            <a:ext cx="7332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Нека </a:t>
            </a:r>
            <a:r>
              <a:rPr lang="en-US" sz="2000" b="1"/>
              <a:t>a</a:t>
            </a:r>
            <a:r>
              <a:rPr lang="en-US"/>
              <a:t> </a:t>
            </a:r>
            <a:r>
              <a:rPr lang="bg-BG"/>
              <a:t>и </a:t>
            </a:r>
            <a:r>
              <a:rPr lang="en-US" sz="2000" b="1"/>
              <a:t>b</a:t>
            </a:r>
            <a:r>
              <a:rPr lang="en-US"/>
              <a:t> </a:t>
            </a:r>
            <a:r>
              <a:rPr lang="bg-BG"/>
              <a:t>са естествени числа:</a:t>
            </a:r>
          </a:p>
          <a:p>
            <a:r>
              <a:rPr lang="en-US" sz="2000" b="1"/>
              <a:t>r</a:t>
            </a:r>
            <a:r>
              <a:rPr lang="en-US" sz="2400" b="1"/>
              <a:t> </a:t>
            </a:r>
            <a:r>
              <a:rPr lang="en-US"/>
              <a:t>– </a:t>
            </a:r>
            <a:r>
              <a:rPr lang="bg-BG"/>
              <a:t>остатък от делението на </a:t>
            </a:r>
            <a:r>
              <a:rPr lang="en-US" sz="2000" b="1"/>
              <a:t>a</a:t>
            </a:r>
            <a:r>
              <a:rPr lang="bg-BG" b="1"/>
              <a:t> </a:t>
            </a:r>
            <a:r>
              <a:rPr lang="bg-BG"/>
              <a:t>с </a:t>
            </a:r>
            <a:r>
              <a:rPr lang="en-US" sz="2000" b="1"/>
              <a:t>b</a:t>
            </a:r>
            <a:r>
              <a:rPr lang="bg-BG" sz="2000"/>
              <a:t>;</a:t>
            </a:r>
            <a:endParaRPr lang="bg-BG" sz="2000" b="1"/>
          </a:p>
          <a:p>
            <a:r>
              <a:rPr lang="en-US" sz="2000" b="1"/>
              <a:t>q </a:t>
            </a:r>
            <a:r>
              <a:rPr lang="en-US"/>
              <a:t>– </a:t>
            </a:r>
            <a:r>
              <a:rPr lang="bg-BG"/>
              <a:t>частно;</a:t>
            </a:r>
            <a:endParaRPr lang="bg-BG" b="1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1A4B3DCC-E472-4602-93C9-0DA8A4614E36}"/>
              </a:ext>
            </a:extLst>
          </p:cNvPr>
          <p:cNvSpPr txBox="1"/>
          <p:nvPr/>
        </p:nvSpPr>
        <p:spPr>
          <a:xfrm>
            <a:off x="2429690" y="2400011"/>
            <a:ext cx="7332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/>
              <a:t>Най – голям общ делител </a:t>
            </a:r>
            <a:r>
              <a:rPr lang="bg-BG" sz="2000"/>
              <a:t>(</a:t>
            </a:r>
            <a:r>
              <a:rPr lang="bg-BG" sz="2000" b="1"/>
              <a:t>НОД</a:t>
            </a:r>
            <a:r>
              <a:rPr lang="bg-BG" sz="2000"/>
              <a:t>) – най – голямото цяло число, което дели и двете числа без остатък.</a:t>
            </a:r>
          </a:p>
        </p:txBody>
      </p:sp>
      <p:cxnSp>
        <p:nvCxnSpPr>
          <p:cNvPr id="8" name="Право съединение 7">
            <a:extLst>
              <a:ext uri="{FF2B5EF4-FFF2-40B4-BE49-F238E27FC236}">
                <a16:creationId xmlns:a16="http://schemas.microsoft.com/office/drawing/2014/main" id="{071D8078-E68B-4071-B71A-9CD4DCD78FDF}"/>
              </a:ext>
            </a:extLst>
          </p:cNvPr>
          <p:cNvCxnSpPr>
            <a:cxnSpLocks/>
          </p:cNvCxnSpPr>
          <p:nvPr/>
        </p:nvCxnSpPr>
        <p:spPr>
          <a:xfrm>
            <a:off x="2429690" y="3169010"/>
            <a:ext cx="6949441" cy="0"/>
          </a:xfrm>
          <a:prstGeom prst="line">
            <a:avLst/>
          </a:prstGeom>
          <a:ln w="38100">
            <a:solidFill>
              <a:srgbClr val="3DA1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A7FEFA2E-DD1A-4813-A1F0-C14DA8B108C6}"/>
              </a:ext>
            </a:extLst>
          </p:cNvPr>
          <p:cNvSpPr txBox="1"/>
          <p:nvPr/>
        </p:nvSpPr>
        <p:spPr>
          <a:xfrm>
            <a:off x="7045235" y="3567196"/>
            <a:ext cx="167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a = bq + r</a:t>
            </a:r>
            <a:endParaRPr lang="bg-BG" sz="2800" b="1"/>
          </a:p>
        </p:txBody>
      </p:sp>
      <p:cxnSp>
        <p:nvCxnSpPr>
          <p:cNvPr id="12" name="Право съединение 11">
            <a:extLst>
              <a:ext uri="{FF2B5EF4-FFF2-40B4-BE49-F238E27FC236}">
                <a16:creationId xmlns:a16="http://schemas.microsoft.com/office/drawing/2014/main" id="{92136586-DF80-4613-96D5-9DAEA73B3C7E}"/>
              </a:ext>
            </a:extLst>
          </p:cNvPr>
          <p:cNvCxnSpPr>
            <a:cxnSpLocks/>
          </p:cNvCxnSpPr>
          <p:nvPr/>
        </p:nvCxnSpPr>
        <p:spPr>
          <a:xfrm>
            <a:off x="2429690" y="4627696"/>
            <a:ext cx="6949441" cy="0"/>
          </a:xfrm>
          <a:prstGeom prst="line">
            <a:avLst/>
          </a:prstGeom>
          <a:ln w="38100">
            <a:solidFill>
              <a:srgbClr val="3DA1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57805623-7D0A-4643-BC3C-99AA8140D071}"/>
              </a:ext>
            </a:extLst>
          </p:cNvPr>
          <p:cNvSpPr txBox="1"/>
          <p:nvPr/>
        </p:nvSpPr>
        <p:spPr>
          <a:xfrm>
            <a:off x="2429689" y="4762634"/>
            <a:ext cx="7332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Взимайки две числа </a:t>
            </a:r>
            <a:r>
              <a:rPr lang="en-US" sz="2000" b="1"/>
              <a:t>a</a:t>
            </a:r>
            <a:r>
              <a:rPr lang="en-US"/>
              <a:t> </a:t>
            </a:r>
            <a:r>
              <a:rPr lang="bg-BG"/>
              <a:t>и </a:t>
            </a:r>
            <a:r>
              <a:rPr lang="en-US" sz="2000" b="1"/>
              <a:t>b</a:t>
            </a:r>
            <a:r>
              <a:rPr lang="bg-BG" b="1"/>
              <a:t> </a:t>
            </a:r>
            <a:r>
              <a:rPr lang="bg-BG"/>
              <a:t>(входни данни), провери дали </a:t>
            </a:r>
            <a:r>
              <a:rPr lang="en-US" sz="2000" b="1"/>
              <a:t>b = 0</a:t>
            </a:r>
            <a:r>
              <a:rPr lang="bg-BG"/>
              <a:t>.</a:t>
            </a:r>
            <a:endParaRPr lang="en-US"/>
          </a:p>
          <a:p>
            <a:r>
              <a:rPr lang="bg-BG"/>
              <a:t>Ако да, числото </a:t>
            </a:r>
            <a:r>
              <a:rPr lang="en-US" sz="2000" b="1"/>
              <a:t>a</a:t>
            </a:r>
            <a:r>
              <a:rPr lang="bg-BG" sz="2000" b="1"/>
              <a:t> </a:t>
            </a:r>
            <a:r>
              <a:rPr lang="bg-BG"/>
              <a:t>е най – голям общ делител.</a:t>
            </a:r>
          </a:p>
          <a:p>
            <a:r>
              <a:rPr lang="bg-BG"/>
              <a:t>Ако не, повтори процеса за </a:t>
            </a:r>
            <a:r>
              <a:rPr lang="en-US" sz="2000" b="1"/>
              <a:t>b</a:t>
            </a:r>
            <a:r>
              <a:rPr lang="bg-BG" b="1"/>
              <a:t> </a:t>
            </a:r>
            <a:r>
              <a:rPr lang="bg-BG"/>
              <a:t>и</a:t>
            </a:r>
            <a:r>
              <a:rPr lang="bg-BG" b="1"/>
              <a:t> </a:t>
            </a:r>
            <a:r>
              <a:rPr lang="en-US" sz="2000" b="1"/>
              <a:t>r</a:t>
            </a:r>
            <a:r>
              <a:rPr lang="en-US" b="1"/>
              <a:t> </a:t>
            </a:r>
            <a:r>
              <a:rPr lang="en-US"/>
              <a:t>(</a:t>
            </a:r>
            <a:r>
              <a:rPr lang="bg-BG"/>
              <a:t>нови входни данни).</a:t>
            </a:r>
          </a:p>
        </p:txBody>
      </p:sp>
    </p:spTree>
    <p:extLst>
      <p:ext uri="{BB962C8B-B14F-4D97-AF65-F5344CB8AC3E}">
        <p14:creationId xmlns:p14="http://schemas.microsoft.com/office/powerpoint/2010/main" val="379610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лавие 1">
            <a:extLst>
              <a:ext uri="{FF2B5EF4-FFF2-40B4-BE49-F238E27FC236}">
                <a16:creationId xmlns:a16="http://schemas.microsoft.com/office/drawing/2014/main" id="{D5CB5924-C658-49AC-B791-3EC2E3378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700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4800" b="1">
                <a:solidFill>
                  <a:schemeClr val="tx2"/>
                </a:solidFill>
              </a:rPr>
              <a:t>Алгоритъм на Евклид</a:t>
            </a:r>
            <a:endParaRPr lang="bg-BG" sz="6600" b="1">
              <a:solidFill>
                <a:schemeClr val="tx2"/>
              </a:solidFill>
            </a:endParaRPr>
          </a:p>
        </p:txBody>
      </p:sp>
      <p:sp>
        <p:nvSpPr>
          <p:cNvPr id="6" name="Правоъгълник: със заоблени ъгли 5">
            <a:extLst>
              <a:ext uri="{FF2B5EF4-FFF2-40B4-BE49-F238E27FC236}">
                <a16:creationId xmlns:a16="http://schemas.microsoft.com/office/drawing/2014/main" id="{2E0A48E9-A6B8-4A99-9BD3-755682F94B05}"/>
              </a:ext>
            </a:extLst>
          </p:cNvPr>
          <p:cNvSpPr/>
          <p:nvPr/>
        </p:nvSpPr>
        <p:spPr>
          <a:xfrm>
            <a:off x="1203959" y="3090398"/>
            <a:ext cx="1105988" cy="5290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Начало</a:t>
            </a:r>
          </a:p>
        </p:txBody>
      </p:sp>
      <p:cxnSp>
        <p:nvCxnSpPr>
          <p:cNvPr id="8" name="Съединител &quot;права стрелка&quot; 7">
            <a:extLst>
              <a:ext uri="{FF2B5EF4-FFF2-40B4-BE49-F238E27FC236}">
                <a16:creationId xmlns:a16="http://schemas.microsoft.com/office/drawing/2014/main" id="{B3FE2496-FFF5-478A-8954-E6464FAA7C0D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>
          <a:xfrm flipV="1">
            <a:off x="2309947" y="3344874"/>
            <a:ext cx="600456" cy="10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Блоксхема: данни 8">
            <a:extLst>
              <a:ext uri="{FF2B5EF4-FFF2-40B4-BE49-F238E27FC236}">
                <a16:creationId xmlns:a16="http://schemas.microsoft.com/office/drawing/2014/main" id="{E472BE9B-0539-4982-B429-4C061C6E290F}"/>
              </a:ext>
            </a:extLst>
          </p:cNvPr>
          <p:cNvSpPr/>
          <p:nvPr/>
        </p:nvSpPr>
        <p:spPr>
          <a:xfrm>
            <a:off x="2750818" y="3114097"/>
            <a:ext cx="1595847" cy="461554"/>
          </a:xfrm>
          <a:prstGeom prst="flowChartInputOutpu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a, b</a:t>
            </a:r>
            <a:r>
              <a:rPr lang="bg-BG" b="1">
                <a:solidFill>
                  <a:schemeClr val="tx1"/>
                </a:solidFill>
              </a:rPr>
              <a:t>, </a:t>
            </a:r>
            <a:r>
              <a:rPr lang="en-US" b="1">
                <a:solidFill>
                  <a:schemeClr val="tx1"/>
                </a:solidFill>
              </a:rPr>
              <a:t>q, r</a:t>
            </a:r>
            <a:endParaRPr lang="bg-BG" b="1">
              <a:solidFill>
                <a:schemeClr val="tx1"/>
              </a:solidFill>
            </a:endParaRPr>
          </a:p>
        </p:txBody>
      </p:sp>
      <p:cxnSp>
        <p:nvCxnSpPr>
          <p:cNvPr id="14" name="Съединител &quot;права стрелка&quot; 13">
            <a:extLst>
              <a:ext uri="{FF2B5EF4-FFF2-40B4-BE49-F238E27FC236}">
                <a16:creationId xmlns:a16="http://schemas.microsoft.com/office/drawing/2014/main" id="{DE76F00D-0AF3-4B1B-B2C1-B6ED1D37F504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4187080" y="3344874"/>
            <a:ext cx="6363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ъединител &quot;права стрелка&quot; 20">
            <a:extLst>
              <a:ext uri="{FF2B5EF4-FFF2-40B4-BE49-F238E27FC236}">
                <a16:creationId xmlns:a16="http://schemas.microsoft.com/office/drawing/2014/main" id="{BED95D4F-DD0F-4291-803B-4D972791C615}"/>
              </a:ext>
            </a:extLst>
          </p:cNvPr>
          <p:cNvCxnSpPr>
            <a:cxnSpLocks/>
          </p:cNvCxnSpPr>
          <p:nvPr/>
        </p:nvCxnSpPr>
        <p:spPr>
          <a:xfrm>
            <a:off x="7778350" y="3759265"/>
            <a:ext cx="0" cy="5440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ово поле 21">
            <a:extLst>
              <a:ext uri="{FF2B5EF4-FFF2-40B4-BE49-F238E27FC236}">
                <a16:creationId xmlns:a16="http://schemas.microsoft.com/office/drawing/2014/main" id="{94174C1A-54FC-42DD-81A6-9FBAD0F93E80}"/>
              </a:ext>
            </a:extLst>
          </p:cNvPr>
          <p:cNvSpPr txBox="1"/>
          <p:nvPr/>
        </p:nvSpPr>
        <p:spPr>
          <a:xfrm>
            <a:off x="7365273" y="3789854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да</a:t>
            </a:r>
          </a:p>
        </p:txBody>
      </p:sp>
      <p:sp>
        <p:nvSpPr>
          <p:cNvPr id="23" name="Блоксхема: данни 22">
            <a:extLst>
              <a:ext uri="{FF2B5EF4-FFF2-40B4-BE49-F238E27FC236}">
                <a16:creationId xmlns:a16="http://schemas.microsoft.com/office/drawing/2014/main" id="{76D253A2-EFAD-4441-8121-BC51B6B260FA}"/>
              </a:ext>
            </a:extLst>
          </p:cNvPr>
          <p:cNvSpPr/>
          <p:nvPr/>
        </p:nvSpPr>
        <p:spPr>
          <a:xfrm>
            <a:off x="6876105" y="4303328"/>
            <a:ext cx="1718991" cy="461554"/>
          </a:xfrm>
          <a:prstGeom prst="flowChartInputOutpu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(</a:t>
            </a:r>
            <a:r>
              <a:rPr lang="en-US" b="1">
                <a:solidFill>
                  <a:schemeClr val="tx1"/>
                </a:solidFill>
              </a:rPr>
              <a:t>a, b) = b</a:t>
            </a:r>
            <a:endParaRPr lang="bg-BG" b="1">
              <a:solidFill>
                <a:schemeClr val="tx1"/>
              </a:solidFill>
            </a:endParaRPr>
          </a:p>
        </p:txBody>
      </p:sp>
      <p:cxnSp>
        <p:nvCxnSpPr>
          <p:cNvPr id="24" name="Съединител &quot;права стрелка&quot; 23">
            <a:extLst>
              <a:ext uri="{FF2B5EF4-FFF2-40B4-BE49-F238E27FC236}">
                <a16:creationId xmlns:a16="http://schemas.microsoft.com/office/drawing/2014/main" id="{E3E0357D-CF65-4367-8598-A679DBDFFC3A}"/>
              </a:ext>
            </a:extLst>
          </p:cNvPr>
          <p:cNvCxnSpPr>
            <a:cxnSpLocks/>
          </p:cNvCxnSpPr>
          <p:nvPr/>
        </p:nvCxnSpPr>
        <p:spPr>
          <a:xfrm>
            <a:off x="7778350" y="4764882"/>
            <a:ext cx="0" cy="5180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авоъгълник: със заоблени ъгли 26">
            <a:extLst>
              <a:ext uri="{FF2B5EF4-FFF2-40B4-BE49-F238E27FC236}">
                <a16:creationId xmlns:a16="http://schemas.microsoft.com/office/drawing/2014/main" id="{E6153102-9881-4A7F-B042-6441EE20D9DC}"/>
              </a:ext>
            </a:extLst>
          </p:cNvPr>
          <p:cNvSpPr/>
          <p:nvPr/>
        </p:nvSpPr>
        <p:spPr>
          <a:xfrm>
            <a:off x="7225356" y="5296769"/>
            <a:ext cx="1105988" cy="5290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Край</a:t>
            </a:r>
          </a:p>
        </p:txBody>
      </p:sp>
      <p:sp>
        <p:nvSpPr>
          <p:cNvPr id="58" name="Правоъгълник 57">
            <a:extLst>
              <a:ext uri="{FF2B5EF4-FFF2-40B4-BE49-F238E27FC236}">
                <a16:creationId xmlns:a16="http://schemas.microsoft.com/office/drawing/2014/main" id="{77B1B253-5A2B-4B93-9BBF-EA075751B207}"/>
              </a:ext>
            </a:extLst>
          </p:cNvPr>
          <p:cNvSpPr/>
          <p:nvPr/>
        </p:nvSpPr>
        <p:spPr>
          <a:xfrm>
            <a:off x="4823458" y="3043034"/>
            <a:ext cx="1684384" cy="60368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 = bq + r</a:t>
            </a:r>
            <a:endParaRPr lang="bg-BG" b="1">
              <a:solidFill>
                <a:schemeClr val="tx1"/>
              </a:solidFill>
            </a:endParaRPr>
          </a:p>
        </p:txBody>
      </p:sp>
      <p:cxnSp>
        <p:nvCxnSpPr>
          <p:cNvPr id="59" name="Съединител &quot;права стрелка&quot; 58">
            <a:extLst>
              <a:ext uri="{FF2B5EF4-FFF2-40B4-BE49-F238E27FC236}">
                <a16:creationId xmlns:a16="http://schemas.microsoft.com/office/drawing/2014/main" id="{1AA74F08-1C50-4C36-AAA7-61FAC0FFD3B4}"/>
              </a:ext>
            </a:extLst>
          </p:cNvPr>
          <p:cNvCxnSpPr>
            <a:cxnSpLocks/>
          </p:cNvCxnSpPr>
          <p:nvPr/>
        </p:nvCxnSpPr>
        <p:spPr>
          <a:xfrm>
            <a:off x="6507842" y="3344874"/>
            <a:ext cx="6363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Блоксхема: решение 59">
            <a:extLst>
              <a:ext uri="{FF2B5EF4-FFF2-40B4-BE49-F238E27FC236}">
                <a16:creationId xmlns:a16="http://schemas.microsoft.com/office/drawing/2014/main" id="{B369131A-AAB9-4B93-A97E-36096BA54FCE}"/>
              </a:ext>
            </a:extLst>
          </p:cNvPr>
          <p:cNvSpPr/>
          <p:nvPr/>
        </p:nvSpPr>
        <p:spPr>
          <a:xfrm>
            <a:off x="7144220" y="2883322"/>
            <a:ext cx="1268260" cy="905911"/>
          </a:xfrm>
          <a:prstGeom prst="flowChartDecis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 = 0</a:t>
            </a:r>
            <a:endParaRPr lang="bg-BG" b="1">
              <a:solidFill>
                <a:schemeClr val="tx1"/>
              </a:solidFill>
            </a:endParaRPr>
          </a:p>
        </p:txBody>
      </p:sp>
      <p:cxnSp>
        <p:nvCxnSpPr>
          <p:cNvPr id="61" name="Съединител &quot;права стрелка&quot; 60">
            <a:extLst>
              <a:ext uri="{FF2B5EF4-FFF2-40B4-BE49-F238E27FC236}">
                <a16:creationId xmlns:a16="http://schemas.microsoft.com/office/drawing/2014/main" id="{A5F0D8B8-1793-4D00-8562-3F6786621E6D}"/>
              </a:ext>
            </a:extLst>
          </p:cNvPr>
          <p:cNvCxnSpPr>
            <a:cxnSpLocks/>
          </p:cNvCxnSpPr>
          <p:nvPr/>
        </p:nvCxnSpPr>
        <p:spPr>
          <a:xfrm>
            <a:off x="8412480" y="3334099"/>
            <a:ext cx="6363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Текстово поле 61">
            <a:extLst>
              <a:ext uri="{FF2B5EF4-FFF2-40B4-BE49-F238E27FC236}">
                <a16:creationId xmlns:a16="http://schemas.microsoft.com/office/drawing/2014/main" id="{9C67A7FD-B6D9-4A5C-8B5F-84D60A64BEFA}"/>
              </a:ext>
            </a:extLst>
          </p:cNvPr>
          <p:cNvSpPr txBox="1"/>
          <p:nvPr/>
        </p:nvSpPr>
        <p:spPr>
          <a:xfrm>
            <a:off x="8502032" y="2975542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не</a:t>
            </a:r>
          </a:p>
        </p:txBody>
      </p:sp>
      <p:sp>
        <p:nvSpPr>
          <p:cNvPr id="63" name="Правоъгълник 62">
            <a:extLst>
              <a:ext uri="{FF2B5EF4-FFF2-40B4-BE49-F238E27FC236}">
                <a16:creationId xmlns:a16="http://schemas.microsoft.com/office/drawing/2014/main" id="{2665C74B-22E7-425C-B016-DF7BC5F2A191}"/>
              </a:ext>
            </a:extLst>
          </p:cNvPr>
          <p:cNvSpPr/>
          <p:nvPr/>
        </p:nvSpPr>
        <p:spPr>
          <a:xfrm>
            <a:off x="9048858" y="3015764"/>
            <a:ext cx="1684384" cy="60368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>
                <a:solidFill>
                  <a:schemeClr val="tx1"/>
                </a:solidFill>
              </a:rPr>
              <a:t>Нека </a:t>
            </a:r>
            <a:r>
              <a:rPr lang="en-US" b="1">
                <a:solidFill>
                  <a:schemeClr val="tx1"/>
                </a:solidFill>
              </a:rPr>
              <a:t>a = b</a:t>
            </a:r>
          </a:p>
          <a:p>
            <a:pPr algn="ctr"/>
            <a:r>
              <a:rPr lang="bg-BG" b="1">
                <a:solidFill>
                  <a:schemeClr val="tx1"/>
                </a:solidFill>
              </a:rPr>
              <a:t>Нека </a:t>
            </a:r>
            <a:r>
              <a:rPr lang="en-US" b="1">
                <a:solidFill>
                  <a:schemeClr val="tx1"/>
                </a:solidFill>
              </a:rPr>
              <a:t>b = r</a:t>
            </a:r>
            <a:endParaRPr lang="bg-BG" b="1">
              <a:solidFill>
                <a:schemeClr val="tx1"/>
              </a:solidFill>
            </a:endParaRPr>
          </a:p>
        </p:txBody>
      </p:sp>
      <p:cxnSp>
        <p:nvCxnSpPr>
          <p:cNvPr id="69" name="Съединител: с чупка 68">
            <a:extLst>
              <a:ext uri="{FF2B5EF4-FFF2-40B4-BE49-F238E27FC236}">
                <a16:creationId xmlns:a16="http://schemas.microsoft.com/office/drawing/2014/main" id="{82CEE55D-0392-45EC-AEF7-C292941FF4D6}"/>
              </a:ext>
            </a:extLst>
          </p:cNvPr>
          <p:cNvCxnSpPr>
            <a:stCxn id="63" idx="0"/>
            <a:endCxn id="58" idx="0"/>
          </p:cNvCxnSpPr>
          <p:nvPr/>
        </p:nvCxnSpPr>
        <p:spPr>
          <a:xfrm rot="16200000" flipH="1" flipV="1">
            <a:off x="7764715" y="916699"/>
            <a:ext cx="27270" cy="4225400"/>
          </a:xfrm>
          <a:prstGeom prst="bentConnector3">
            <a:avLst>
              <a:gd name="adj1" fmla="val -2211470"/>
            </a:avLst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50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65EA58-9143-4FAE-86C9-3EE71647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EC30ECCC-04E0-49B9-A99C-87C2DFEBA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527CC67A-4D54-4A75-8BD6-E7BFCF80F5EC}"/>
              </a:ext>
            </a:extLst>
          </p:cNvPr>
          <p:cNvSpPr txBox="1"/>
          <p:nvPr/>
        </p:nvSpPr>
        <p:spPr>
          <a:xfrm>
            <a:off x="4763588" y="2704684"/>
            <a:ext cx="2412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>
                <a:solidFill>
                  <a:schemeClr val="tx2"/>
                </a:solidFill>
              </a:rPr>
              <a:t>Благодаря</a:t>
            </a:r>
          </a:p>
          <a:p>
            <a:pPr algn="ctr"/>
            <a:r>
              <a:rPr lang="bg-BG" sz="3200" b="1">
                <a:solidFill>
                  <a:schemeClr val="tx2"/>
                </a:solidFill>
              </a:rPr>
              <a:t>за</a:t>
            </a:r>
          </a:p>
          <a:p>
            <a:pPr algn="ctr"/>
            <a:r>
              <a:rPr lang="bg-BG" sz="3200" b="1">
                <a:solidFill>
                  <a:schemeClr val="tx2"/>
                </a:solidFill>
              </a:rPr>
              <a:t>вниманието</a:t>
            </a:r>
          </a:p>
        </p:txBody>
      </p:sp>
    </p:spTree>
    <p:extLst>
      <p:ext uri="{BB962C8B-B14F-4D97-AF65-F5344CB8AC3E}">
        <p14:creationId xmlns:p14="http://schemas.microsoft.com/office/powerpoint/2010/main" val="400893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359</Words>
  <Application>Microsoft Office PowerPoint</Application>
  <PresentationFormat>Широк екран</PresentationFormat>
  <Paragraphs>79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на Office</vt:lpstr>
      <vt:lpstr>Създаване на съдържание Алгоритми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Алгоритъм на Евклид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Компютърна презентация Упражнение</dc:title>
  <dc:creator>Martin Byalov</dc:creator>
  <cp:lastModifiedBy>Martin Byalov</cp:lastModifiedBy>
  <cp:revision>41</cp:revision>
  <dcterms:created xsi:type="dcterms:W3CDTF">2022-03-19T17:51:01Z</dcterms:created>
  <dcterms:modified xsi:type="dcterms:W3CDTF">2022-03-20T23:51:27Z</dcterms:modified>
</cp:coreProperties>
</file>